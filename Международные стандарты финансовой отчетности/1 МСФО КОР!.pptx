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61" r:id="rId5"/>
    <p:sldId id="262" r:id="rId6"/>
    <p:sldId id="263" r:id="rId7"/>
    <p:sldId id="264" r:id="rId8"/>
    <p:sldId id="269" r:id="rId9"/>
    <p:sldId id="270" r:id="rId10"/>
    <p:sldId id="271" r:id="rId11"/>
    <p:sldId id="272" r:id="rId12"/>
    <p:sldId id="273" r:id="rId13"/>
    <p:sldId id="274" r:id="rId14"/>
    <p:sldId id="286" r:id="rId15"/>
    <p:sldId id="291" r:id="rId16"/>
    <p:sldId id="289" r:id="rId17"/>
    <p:sldId id="290" r:id="rId18"/>
    <p:sldId id="292" r:id="rId19"/>
    <p:sldId id="29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0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55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3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64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18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64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93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90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1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9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08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454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731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586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027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563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80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05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772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288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513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304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135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3138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076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2693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736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610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9280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39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43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370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3307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55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75983-7C85-429F-8332-4B47D266353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95A61-AB40-4B21-A6F4-0803C6ED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07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63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75983-7C85-429F-8332-4B47D266353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02.09.2026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95A61-AB40-4B21-A6F4-0803C6EDD24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5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33168"/>
          </a:xfrm>
        </p:spPr>
        <p:txBody>
          <a:bodyPr>
            <a:normAutofit/>
          </a:bodyPr>
          <a:lstStyle/>
          <a:p>
            <a:pPr algn="ctr"/>
            <a:r>
              <a:rPr lang="ru-RU" sz="4800" dirty="0" smtClean="0"/>
              <a:t>Эмилия Сергеевна</a:t>
            </a:r>
            <a:br>
              <a:rPr lang="ru-RU" sz="4800" dirty="0" smtClean="0"/>
            </a:br>
            <a:r>
              <a:rPr lang="ru-RU" sz="4800" dirty="0" err="1" smtClean="0"/>
              <a:t>Дружиловская</a:t>
            </a:r>
            <a:endParaRPr lang="ru-RU" sz="4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825087"/>
            <a:ext cx="10515600" cy="3351876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93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5400" b="1" i="1" dirty="0" smtClean="0">
                <a:solidFill>
                  <a:srgbClr val="7030A0"/>
                </a:solidFill>
              </a:rPr>
              <a:t>Международные Стандарты </a:t>
            </a:r>
            <a:r>
              <a:rPr lang="ru-RU" sz="5400" b="1" i="1" dirty="0">
                <a:solidFill>
                  <a:srgbClr val="7030A0"/>
                </a:solidFill>
              </a:rPr>
              <a:t>Финансовой </a:t>
            </a:r>
            <a:r>
              <a:rPr lang="ru-RU" sz="5400" b="1" i="1" dirty="0" smtClean="0">
                <a:solidFill>
                  <a:srgbClr val="7030A0"/>
                </a:solidFill>
              </a:rPr>
              <a:t>Отчетности</a:t>
            </a:r>
            <a:endParaRPr lang="ru-RU" sz="54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69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IAS </a:t>
            </a:r>
            <a:endParaRPr lang="ru-RU" sz="6000" dirty="0" smtClean="0"/>
          </a:p>
          <a:p>
            <a:pPr marL="0" indent="0" algn="ctr">
              <a:buNone/>
            </a:pPr>
            <a:r>
              <a:rPr lang="en-US" sz="6000" dirty="0" smtClean="0"/>
              <a:t>International </a:t>
            </a:r>
            <a:r>
              <a:rPr lang="en-US" sz="6000" dirty="0"/>
              <a:t>Accounting Standards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8962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 smtClean="0"/>
              <a:t>IFRS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dirty="0" smtClean="0"/>
              <a:t>International </a:t>
            </a:r>
            <a:r>
              <a:rPr lang="en-US" sz="5400" dirty="0"/>
              <a:t>Financial Reporting </a:t>
            </a:r>
            <a:r>
              <a:rPr lang="en-US" sz="5400" dirty="0" smtClean="0"/>
              <a:t>Standards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422322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4935"/>
          </a:xfrm>
        </p:spPr>
        <p:txBody>
          <a:bodyPr/>
          <a:lstStyle/>
          <a:p>
            <a:pPr algn="ctr"/>
            <a:r>
              <a:rPr lang="ru-RU" dirty="0" smtClean="0"/>
              <a:t>Состав </a:t>
            </a:r>
            <a:r>
              <a:rPr lang="ru-RU" dirty="0"/>
              <a:t>МСФО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10185"/>
            <a:ext cx="10515600" cy="486677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1.1. Стандарты с аббревиатурой </a:t>
            </a:r>
            <a:r>
              <a:rPr lang="ru-RU" dirty="0" smtClean="0"/>
              <a:t>IAS</a:t>
            </a:r>
          </a:p>
          <a:p>
            <a:pPr marL="0" indent="0" algn="just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624806"/>
              </p:ext>
            </p:extLst>
          </p:nvPr>
        </p:nvGraphicFramePr>
        <p:xfrm>
          <a:off x="1733265" y="1897038"/>
          <a:ext cx="9198591" cy="3297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3266"/>
                <a:gridCol w="7124132"/>
                <a:gridCol w="341193"/>
              </a:tblGrid>
              <a:tr h="7421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МСФО (IAS) 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Представление финансовой отчетности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36266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Запасы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36266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7 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Отчет о движении денежных средств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7421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8 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Учетная политика, изменения в бухгалтерских расчетах и ошибки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36266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10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События после отчетной даты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36266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МСФО (IAS) 12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Налоги на прибыль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36266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16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Основные средства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71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5000"/>
            <a:ext cx="10515600" cy="303615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8406"/>
              </p:ext>
            </p:extLst>
          </p:nvPr>
        </p:nvGraphicFramePr>
        <p:xfrm>
          <a:off x="838200" y="914397"/>
          <a:ext cx="10515600" cy="3499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2296"/>
                <a:gridCol w="8462654"/>
                <a:gridCol w="120650"/>
              </a:tblGrid>
              <a:tr h="30846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МСФО (IAS) 19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Вознаграждения работникам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95395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20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Учет государственных субсидий и раскрытие информации о государственной помощи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6312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21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Влияние изменений валютных курсов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30846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23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Затраты по займам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6312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24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Раскрытие информации о связанных сторонах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6312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26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Учет и отчетность по пенсионным планам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89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7705"/>
            <a:ext cx="10515600" cy="399150"/>
          </a:xfrm>
        </p:spPr>
        <p:txBody>
          <a:bodyPr>
            <a:normAutofit fontScale="90000"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9132"/>
              </p:ext>
            </p:extLst>
          </p:nvPr>
        </p:nvGraphicFramePr>
        <p:xfrm>
          <a:off x="838201" y="1091823"/>
          <a:ext cx="10515598" cy="52680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9590"/>
                <a:gridCol w="8243248"/>
                <a:gridCol w="312760"/>
              </a:tblGrid>
              <a:tr h="9597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МСФО (IAS) 27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Индивидуальная финансовая отчетность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9597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28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Учет инвестиций в </a:t>
                      </a:r>
                      <a:r>
                        <a:rPr lang="ru-RU" sz="2000" dirty="0" smtClean="0">
                          <a:effectLst/>
                        </a:rPr>
                        <a:t>ассоциированные</a:t>
                      </a:r>
                      <a:r>
                        <a:rPr lang="en-US" sz="2000" dirty="0" smtClean="0">
                          <a:effectLst/>
                        </a:rPr>
                        <a:t> </a:t>
                      </a:r>
                      <a:r>
                        <a:rPr lang="ru-RU" sz="2000" baseline="0" dirty="0" smtClean="0">
                          <a:effectLst/>
                        </a:rPr>
                        <a:t> и совместные</a:t>
                      </a:r>
                      <a:r>
                        <a:rPr lang="ru-RU" sz="2000" dirty="0" smtClean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компании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9597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29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Финансовая отчетность в условиях гиперинфляции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9597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32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Финансовые инструменты: раскрытие и представление информации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4690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33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Прибыль на акцию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9597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МСФО (IAS) 34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Промежуточная финансовая отчетность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97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5943"/>
            <a:ext cx="10515600" cy="221729"/>
          </a:xfrm>
        </p:spPr>
        <p:txBody>
          <a:bodyPr>
            <a:normAutofit fontScale="90000"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161253"/>
              </p:ext>
            </p:extLst>
          </p:nvPr>
        </p:nvGraphicFramePr>
        <p:xfrm>
          <a:off x="838200" y="982637"/>
          <a:ext cx="10515601" cy="506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534"/>
                <a:gridCol w="8394417"/>
                <a:gridCol w="120650"/>
              </a:tblGrid>
              <a:tr h="62567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МСФО (IAS) 36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</a:rPr>
                        <a:t>Обесценение </a:t>
                      </a:r>
                      <a:r>
                        <a:rPr lang="ru-RU" sz="2400" dirty="0">
                          <a:effectLst/>
                        </a:rPr>
                        <a:t>активов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2803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(IAS) 37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</a:rPr>
                        <a:t>Оценочные обязательства, </a:t>
                      </a:r>
                      <a:r>
                        <a:rPr lang="ru-RU" sz="2400" dirty="0">
                          <a:effectLst/>
                        </a:rPr>
                        <a:t>условные обязательства и условные активы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62567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(IAS) 38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Нематериальные активы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2803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(IAS) 39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Финансовые инструменты: признание и оценка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62567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(IAS) 40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</a:rPr>
                        <a:t>Инвестиционная </a:t>
                      </a:r>
                      <a:r>
                        <a:rPr lang="ru-RU" sz="2400" dirty="0">
                          <a:effectLst/>
                        </a:rPr>
                        <a:t>недвижимость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62567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(IAS) 41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Сельское хозяйство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21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83239"/>
            <a:ext cx="10515600" cy="59021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1.2. Стандарты с аббревиатурой IFRS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778447"/>
              </p:ext>
            </p:extLst>
          </p:nvPr>
        </p:nvGraphicFramePr>
        <p:xfrm>
          <a:off x="1269241" y="1323833"/>
          <a:ext cx="9867332" cy="4171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3486"/>
                <a:gridCol w="7459948"/>
                <a:gridCol w="313898"/>
              </a:tblGrid>
              <a:tr h="10428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МСФО (IFRS) 1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Первое применение МСФО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0428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(IFRS) 2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Выплаты на основе долевых инструментов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50964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(IFRS) 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Объединения бизнеса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57612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МСФО (IFRS) 5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</a:rPr>
                        <a:t>Долгосрочные активы, удерживаемые </a:t>
                      </a:r>
                      <a:r>
                        <a:rPr lang="ru-RU" sz="2400" dirty="0">
                          <a:effectLst/>
                        </a:rPr>
                        <a:t>для продажи, и прекращенная деятельность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43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9591"/>
            <a:ext cx="10515600" cy="41279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705954"/>
              </p:ext>
            </p:extLst>
          </p:nvPr>
        </p:nvGraphicFramePr>
        <p:xfrm>
          <a:off x="941695" y="1214653"/>
          <a:ext cx="10290411" cy="4804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3247"/>
                <a:gridCol w="7793267"/>
                <a:gridCol w="313897"/>
              </a:tblGrid>
              <a:tr h="12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МСФО (IFRS) 6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Геологоразведка и оценка минерально-сырьевых запасов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2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(IFRS) 7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Финансовые инструменты: раскрытие информации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59025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(IFRS) 8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Операционные сегменты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59025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(IFRS) 9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Финансовые инструменты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2078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МСФО (IFRS) 10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Консолидированная финансовая отчетность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63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4058"/>
            <a:ext cx="10515600" cy="48103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130761"/>
              </p:ext>
            </p:extLst>
          </p:nvPr>
        </p:nvGraphicFramePr>
        <p:xfrm>
          <a:off x="838200" y="1310185"/>
          <a:ext cx="10515601" cy="4854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761"/>
                <a:gridCol w="8366078"/>
                <a:gridCol w="312762"/>
              </a:tblGrid>
              <a:tr h="27514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МСФО (IFRS) 11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Совместная деятельность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5630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МСФО (IFRS) 12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Раскрытие информации об участии в других предприятиях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27514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МСФО (IFRS) 13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Оценка справедливой стоимости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13881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МСФО (IFRS) 14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Счета отложенных тарифных </a:t>
                      </a:r>
                      <a:r>
                        <a:rPr lang="ru-RU" sz="1800" dirty="0" smtClean="0">
                          <a:effectLst/>
                        </a:rPr>
                        <a:t>корректировок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4266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МСФО (IFRS) 15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Выручка по договорам с </a:t>
                      </a:r>
                      <a:r>
                        <a:rPr lang="ru-RU" sz="1800" dirty="0" smtClean="0">
                          <a:effectLst/>
                        </a:rPr>
                        <a:t>клиентами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  <a:tr h="113881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МСФО (IFRS) 16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Аренда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13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fontAlgn="t">
              <a:lnSpc>
                <a:spcPct val="107000"/>
              </a:lnSpc>
              <a:spcBef>
                <a:spcPts val="0"/>
              </a:spcBef>
              <a:buNone/>
            </a:pPr>
            <a:r>
              <a:rPr lang="ru-RU" sz="3200" dirty="0">
                <a:solidFill>
                  <a:srgbClr val="000000"/>
                </a:solidFill>
                <a:latin typeface="Calibri" panose="020F0502020204030204" pitchFamily="34" charset="0"/>
              </a:rPr>
              <a:t>МСФО (IFRS) </a:t>
            </a:r>
            <a:r>
              <a:rPr lang="ru-RU" sz="3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17 «Договоры страхования» (</a:t>
            </a:r>
            <a:r>
              <a:rPr lang="ru-RU" sz="32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Insurance</a:t>
            </a:r>
            <a:r>
              <a:rPr lang="ru-RU" sz="3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32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Contracts</a:t>
            </a:r>
            <a:r>
              <a:rPr lang="ru-RU" sz="3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</a:p>
          <a:p>
            <a:pPr marL="0" indent="0" algn="just" fontAlgn="t">
              <a:lnSpc>
                <a:spcPct val="107000"/>
              </a:lnSpc>
              <a:spcBef>
                <a:spcPts val="0"/>
              </a:spcBef>
              <a:buNone/>
            </a:pPr>
            <a:r>
              <a:rPr lang="ru-RU" sz="2400" dirty="0">
                <a:latin typeface="Arial" panose="020B0604020202020204" pitchFamily="34" charset="0"/>
              </a:rPr>
              <a:t>(</a:t>
            </a:r>
            <a:r>
              <a:rPr lang="ru-RU" sz="2400" dirty="0" smtClean="0">
                <a:latin typeface="Arial" panose="020B0604020202020204" pitchFamily="34" charset="0"/>
              </a:rPr>
              <a:t>вступил </a:t>
            </a:r>
            <a:r>
              <a:rPr lang="ru-RU" sz="2400" dirty="0">
                <a:latin typeface="Arial" panose="020B0604020202020204" pitchFamily="34" charset="0"/>
              </a:rPr>
              <a:t>в силу с 1 января 2021 г. и </a:t>
            </a:r>
            <a:r>
              <a:rPr lang="ru-RU" sz="2400" dirty="0" smtClean="0">
                <a:latin typeface="Arial" panose="020B0604020202020204" pitchFamily="34" charset="0"/>
              </a:rPr>
              <a:t>заменил </a:t>
            </a:r>
            <a:r>
              <a:rPr lang="ru-RU" sz="2400" dirty="0">
                <a:latin typeface="Arial" panose="020B0604020202020204" pitchFamily="34" charset="0"/>
              </a:rPr>
              <a:t>МСФО (IFRS) 4)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319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190914"/>
              </p:ext>
            </p:extLst>
          </p:nvPr>
        </p:nvGraphicFramePr>
        <p:xfrm>
          <a:off x="1015620" y="313898"/>
          <a:ext cx="10515601" cy="2109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76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588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199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109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МСФО (IFRS) </a:t>
                      </a:r>
                      <a:r>
                        <a:rPr lang="ru-RU" sz="2800" dirty="0" smtClean="0">
                          <a:effectLst/>
                        </a:rPr>
                        <a:t>18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>
                    <a:solidFill>
                      <a:srgbClr val="E6C0E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и раскрытие информации в финансовой отчетности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>
                    <a:solidFill>
                      <a:srgbClr val="E6C0E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Presentation and Disclosure in Financial Statements</a:t>
                      </a:r>
                      <a:endParaRPr lang="ru-RU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>
                    <a:solidFill>
                      <a:srgbClr val="E6C0E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="" xmlns:a16="http://schemas.microsoft.com/office/drawing/2014/main" id="{E57E80F3-C405-F6C1-1003-44C6A69AE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643063"/>
              </p:ext>
            </p:extLst>
          </p:nvPr>
        </p:nvGraphicFramePr>
        <p:xfrm>
          <a:off x="1015620" y="3810000"/>
          <a:ext cx="10515602" cy="1988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9262">
                  <a:extLst>
                    <a:ext uri="{9D8B030D-6E8A-4147-A177-3AD203B41FA5}">
                      <a16:colId xmlns="" xmlns:a16="http://schemas.microsoft.com/office/drawing/2014/main" val="712881020"/>
                    </a:ext>
                  </a:extLst>
                </a:gridCol>
                <a:gridCol w="5158333">
                  <a:extLst>
                    <a:ext uri="{9D8B030D-6E8A-4147-A177-3AD203B41FA5}">
                      <a16:colId xmlns="" xmlns:a16="http://schemas.microsoft.com/office/drawing/2014/main" val="1728506245"/>
                    </a:ext>
                  </a:extLst>
                </a:gridCol>
                <a:gridCol w="3518007">
                  <a:extLst>
                    <a:ext uri="{9D8B030D-6E8A-4147-A177-3AD203B41FA5}">
                      <a16:colId xmlns="" xmlns:a16="http://schemas.microsoft.com/office/drawing/2014/main" val="917209061"/>
                    </a:ext>
                  </a:extLst>
                </a:gridCol>
              </a:tblGrid>
              <a:tr h="198853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МСФО (</a:t>
                      </a:r>
                      <a:r>
                        <a:rPr lang="en-US" sz="2800" dirty="0" smtClean="0"/>
                        <a:t>IFRS) 1</a:t>
                      </a:r>
                      <a:r>
                        <a:rPr lang="ru-RU" sz="2800" dirty="0" smtClean="0"/>
                        <a:t>9</a:t>
                      </a:r>
                      <a:endParaRPr lang="en-US" sz="2800" dirty="0" smtClean="0"/>
                    </a:p>
                  </a:txBody>
                  <a:tcPr marL="47625" marR="47625" marT="0" marB="0">
                    <a:solidFill>
                      <a:srgbClr val="E6C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Дочерние компании без публичной отчетности: раскрытие информации</a:t>
                      </a:r>
                      <a:endParaRPr lang="ru-RU" sz="2800" dirty="0"/>
                    </a:p>
                  </a:txBody>
                  <a:tcPr marL="47625" marR="47625" marT="0" marB="0">
                    <a:solidFill>
                      <a:srgbClr val="E6C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IFRS 19 Subsidiaries without Public Accountability: Disclosures </a:t>
                      </a:r>
                      <a:endParaRPr lang="ru-RU" sz="2800" dirty="0"/>
                    </a:p>
                  </a:txBody>
                  <a:tcPr marL="47625" marR="47625" marT="0" marB="0">
                    <a:solidFill>
                      <a:srgbClr val="E6C0E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25028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92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51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6537"/>
            <a:ext cx="10515600" cy="48804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5400" dirty="0"/>
              <a:t>Комитет по международным стандартам финансовой отчетности (КМСФО) </a:t>
            </a:r>
            <a:endParaRPr lang="ru-RU" sz="5400" dirty="0" smtClean="0"/>
          </a:p>
          <a:p>
            <a:pPr marL="0" indent="0" algn="ctr">
              <a:buNone/>
            </a:pPr>
            <a:r>
              <a:rPr lang="ru-RU" sz="5400" dirty="0" smtClean="0"/>
              <a:t> </a:t>
            </a:r>
            <a:r>
              <a:rPr lang="ru-RU" sz="5400" dirty="0" err="1"/>
              <a:t>International</a:t>
            </a:r>
            <a:r>
              <a:rPr lang="ru-RU" sz="5400" dirty="0"/>
              <a:t> </a:t>
            </a:r>
            <a:r>
              <a:rPr lang="ru-RU" sz="5400" dirty="0" err="1"/>
              <a:t>Accounting</a:t>
            </a:r>
            <a:r>
              <a:rPr lang="ru-RU" sz="5400" dirty="0"/>
              <a:t> </a:t>
            </a:r>
            <a:r>
              <a:rPr lang="ru-RU" sz="5400" dirty="0" err="1"/>
              <a:t>Standards</a:t>
            </a:r>
            <a:r>
              <a:rPr lang="ru-RU" sz="5400" dirty="0"/>
              <a:t> </a:t>
            </a:r>
            <a:r>
              <a:rPr lang="ru-RU" sz="5400" dirty="0" err="1"/>
              <a:t>Committee</a:t>
            </a:r>
            <a:r>
              <a:rPr lang="ru-RU" sz="5400" dirty="0"/>
              <a:t> (IASC)</a:t>
            </a:r>
          </a:p>
        </p:txBody>
      </p:sp>
    </p:spTree>
    <p:extLst>
      <p:ext uri="{BB962C8B-B14F-4D97-AF65-F5344CB8AC3E}">
        <p14:creationId xmlns:p14="http://schemas.microsoft.com/office/powerpoint/2010/main" val="2858192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7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46663"/>
            <a:ext cx="10515600" cy="47303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5400" dirty="0" smtClean="0"/>
              <a:t>Совет по МСФО</a:t>
            </a:r>
          </a:p>
          <a:p>
            <a:pPr marL="0" indent="0" algn="ctr">
              <a:buNone/>
            </a:pPr>
            <a:r>
              <a:rPr lang="en-US" sz="5400" dirty="0" smtClean="0"/>
              <a:t>International </a:t>
            </a:r>
            <a:r>
              <a:rPr lang="en-US" sz="5400" dirty="0"/>
              <a:t>Accounting Standards Board (IASB)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10469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3330" y="682388"/>
            <a:ext cx="11054687" cy="56774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800" b="1" dirty="0">
                <a:solidFill>
                  <a:srgbClr val="7030A0"/>
                </a:solidFill>
                <a:latin typeface="Georgia" panose="02040502050405020303" pitchFamily="18" charset="0"/>
              </a:rPr>
              <a:t>Бухгалтерский учет в системе международных стандартов финансовой отчетности: </a:t>
            </a:r>
          </a:p>
          <a:p>
            <a:pPr marL="0" indent="0">
              <a:buNone/>
            </a:pPr>
            <a:r>
              <a:rPr lang="ru-RU" sz="4800" b="1" dirty="0">
                <a:solidFill>
                  <a:srgbClr val="7030A0"/>
                </a:solidFill>
                <a:latin typeface="Georgia" panose="02040502050405020303" pitchFamily="18" charset="0"/>
              </a:rPr>
              <a:t>учебник / </a:t>
            </a:r>
          </a:p>
          <a:p>
            <a:pPr marL="0" indent="0">
              <a:buNone/>
            </a:pPr>
            <a:r>
              <a:rPr lang="ru-RU" sz="4800" b="1" dirty="0">
                <a:solidFill>
                  <a:srgbClr val="7030A0"/>
                </a:solidFill>
                <a:latin typeface="Georgia" panose="02040502050405020303" pitchFamily="18" charset="0"/>
              </a:rPr>
              <a:t>Т.Ю. Дружиловская, </a:t>
            </a:r>
          </a:p>
          <a:p>
            <a:pPr marL="0" indent="0">
              <a:buNone/>
            </a:pPr>
            <a:r>
              <a:rPr lang="ru-RU" sz="4800" b="1" dirty="0">
                <a:solidFill>
                  <a:srgbClr val="7030A0"/>
                </a:solidFill>
                <a:latin typeface="Georgia" panose="02040502050405020303" pitchFamily="18" charset="0"/>
              </a:rPr>
              <a:t>Э.С. Дружиловская. </a:t>
            </a:r>
          </a:p>
          <a:p>
            <a:pPr marL="0" indent="0">
              <a:buNone/>
            </a:pPr>
            <a:r>
              <a:rPr lang="ru-RU" sz="4800" b="1" dirty="0">
                <a:solidFill>
                  <a:srgbClr val="7030A0"/>
                </a:solidFill>
                <a:latin typeface="Georgia" panose="02040502050405020303" pitchFamily="18" charset="0"/>
              </a:rPr>
              <a:t>— Москва: КНОРУС, </a:t>
            </a:r>
          </a:p>
          <a:p>
            <a:pPr marL="0" indent="0">
              <a:buNone/>
            </a:pPr>
            <a:r>
              <a:rPr lang="ru-RU" sz="4800" b="1" dirty="0">
                <a:solidFill>
                  <a:srgbClr val="7030A0"/>
                </a:solidFill>
                <a:latin typeface="Georgia" panose="02040502050405020303" pitchFamily="18" charset="0"/>
              </a:rPr>
              <a:t>2021. — 292 с.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768" y="2545308"/>
            <a:ext cx="2543032" cy="38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3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9558"/>
            <a:ext cx="10515600" cy="6018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b="1" dirty="0">
                <a:solidFill>
                  <a:srgbClr val="F89F1C"/>
                </a:solidFill>
                <a:latin typeface="Impact" panose="020B0806030902050204" pitchFamily="34" charset="0"/>
              </a:rPr>
              <a:t>Международные </a:t>
            </a:r>
            <a:endParaRPr lang="ru-RU" sz="4400" b="1" dirty="0" smtClean="0">
              <a:solidFill>
                <a:srgbClr val="F89F1C"/>
              </a:solidFill>
              <a:latin typeface="Impact" panose="020B0806030902050204" pitchFamily="34" charset="0"/>
            </a:endParaRPr>
          </a:p>
          <a:p>
            <a:pPr marL="0" indent="0">
              <a:buNone/>
            </a:pPr>
            <a:r>
              <a:rPr lang="ru-RU" sz="4400" b="1" dirty="0" smtClean="0">
                <a:solidFill>
                  <a:srgbClr val="F89F1C"/>
                </a:solidFill>
                <a:latin typeface="Impact" panose="020B0806030902050204" pitchFamily="34" charset="0"/>
              </a:rPr>
              <a:t>стандарты </a:t>
            </a:r>
          </a:p>
          <a:p>
            <a:pPr marL="0" indent="0">
              <a:buNone/>
            </a:pPr>
            <a:r>
              <a:rPr lang="ru-RU" sz="4400" b="1" dirty="0" smtClean="0">
                <a:solidFill>
                  <a:srgbClr val="F89F1C"/>
                </a:solidFill>
                <a:latin typeface="Impact" panose="020B0806030902050204" pitchFamily="34" charset="0"/>
              </a:rPr>
              <a:t>финансовой </a:t>
            </a:r>
          </a:p>
          <a:p>
            <a:pPr marL="0" indent="0">
              <a:buNone/>
            </a:pPr>
            <a:r>
              <a:rPr lang="ru-RU" sz="4400" b="1" dirty="0" smtClean="0">
                <a:solidFill>
                  <a:srgbClr val="F89F1C"/>
                </a:solidFill>
                <a:latin typeface="Impact" panose="020B0806030902050204" pitchFamily="34" charset="0"/>
              </a:rPr>
              <a:t>отчетности</a:t>
            </a:r>
            <a:r>
              <a:rPr lang="ru-RU" sz="4400" b="1" dirty="0">
                <a:solidFill>
                  <a:srgbClr val="F89F1C"/>
                </a:solidFill>
                <a:latin typeface="Impact" panose="020B0806030902050204" pitchFamily="34" charset="0"/>
              </a:rPr>
              <a:t>: учебник </a:t>
            </a:r>
            <a:r>
              <a:rPr lang="ru-RU" sz="4400" b="1" dirty="0" smtClean="0">
                <a:solidFill>
                  <a:srgbClr val="F89F1C"/>
                </a:solidFill>
                <a:latin typeface="Impact" panose="020B0806030902050204" pitchFamily="34" charset="0"/>
              </a:rPr>
              <a:t>/ </a:t>
            </a:r>
          </a:p>
          <a:p>
            <a:pPr marL="0" indent="0">
              <a:buNone/>
            </a:pPr>
            <a:r>
              <a:rPr lang="ru-RU" sz="4400" b="1" dirty="0" smtClean="0">
                <a:solidFill>
                  <a:srgbClr val="F89F1C"/>
                </a:solidFill>
                <a:latin typeface="Impact" panose="020B0806030902050204" pitchFamily="34" charset="0"/>
              </a:rPr>
              <a:t>Т.Ю</a:t>
            </a:r>
            <a:r>
              <a:rPr lang="ru-RU" sz="4400" b="1" dirty="0">
                <a:solidFill>
                  <a:srgbClr val="F89F1C"/>
                </a:solidFill>
                <a:latin typeface="Impact" panose="020B0806030902050204" pitchFamily="34" charset="0"/>
              </a:rPr>
              <a:t>. </a:t>
            </a:r>
            <a:r>
              <a:rPr lang="ru-RU" sz="4400" b="1" dirty="0" err="1">
                <a:solidFill>
                  <a:srgbClr val="F89F1C"/>
                </a:solidFill>
                <a:latin typeface="Impact" panose="020B0806030902050204" pitchFamily="34" charset="0"/>
              </a:rPr>
              <a:t>Дружиловская</a:t>
            </a:r>
            <a:r>
              <a:rPr lang="ru-RU" sz="4400" b="1" dirty="0">
                <a:solidFill>
                  <a:srgbClr val="F89F1C"/>
                </a:solidFill>
                <a:latin typeface="Impact" panose="020B0806030902050204" pitchFamily="34" charset="0"/>
              </a:rPr>
              <a:t>, Э.С. </a:t>
            </a:r>
            <a:r>
              <a:rPr lang="ru-RU" sz="4400" b="1" dirty="0" err="1">
                <a:solidFill>
                  <a:srgbClr val="F89F1C"/>
                </a:solidFill>
                <a:latin typeface="Impact" panose="020B0806030902050204" pitchFamily="34" charset="0"/>
              </a:rPr>
              <a:t>Дружиловская</a:t>
            </a:r>
            <a:r>
              <a:rPr lang="ru-RU" sz="4400" b="1" dirty="0">
                <a:solidFill>
                  <a:srgbClr val="F89F1C"/>
                </a:solidFill>
                <a:latin typeface="Impact" panose="020B0806030902050204" pitchFamily="34" charset="0"/>
              </a:rPr>
              <a:t>. — Москва : ИНФРА-М, 2026. — 333 с. </a:t>
            </a:r>
            <a:r>
              <a:rPr lang="en-US" sz="4400" b="1" dirty="0">
                <a:solidFill>
                  <a:srgbClr val="7030A0"/>
                </a:solidFill>
                <a:latin typeface="Impact" panose="020B0806030902050204" pitchFamily="34" charset="0"/>
              </a:rPr>
              <a:t>https://znanium.ru/read?id=480944</a:t>
            </a:r>
            <a:endParaRPr lang="ru-RU" sz="4400" b="1" dirty="0" smtClean="0">
              <a:solidFill>
                <a:srgbClr val="7030A0"/>
              </a:solidFill>
              <a:latin typeface="Impact" panose="020B0806030902050204" pitchFamily="34" charset="0"/>
            </a:endParaRPr>
          </a:p>
          <a:p>
            <a:pPr marL="0" indent="0">
              <a:buNone/>
            </a:pPr>
            <a:endParaRPr lang="ru-RU" sz="4400" b="1" dirty="0">
              <a:solidFill>
                <a:srgbClr val="F89F1C"/>
              </a:solidFill>
              <a:latin typeface="Impact" panose="020B080603090205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369" y="559558"/>
            <a:ext cx="3698827" cy="207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5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552</Words>
  <Application>Microsoft Office PowerPoint</Application>
  <PresentationFormat>Широкоэкранный</PresentationFormat>
  <Paragraphs>113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Georgia</vt:lpstr>
      <vt:lpstr>Impact</vt:lpstr>
      <vt:lpstr>Times New Roman</vt:lpstr>
      <vt:lpstr>Тема Office</vt:lpstr>
      <vt:lpstr>1_Тема Office</vt:lpstr>
      <vt:lpstr>2_Тема Office</vt:lpstr>
      <vt:lpstr>Эмилия Сергеевна Дружиловская</vt:lpstr>
      <vt:lpstr>Презентация PowerPoint</vt:lpstr>
      <vt:lpstr>Презентация PowerPoint</vt:lpstr>
      <vt:lpstr>Презентация PowerPoint</vt:lpstr>
      <vt:lpstr>Состав МСФО </vt:lpstr>
      <vt:lpstr>Презентация PowerPoint</vt:lpstr>
      <vt:lpstr>Презентация PowerPoint</vt:lpstr>
      <vt:lpstr>Презентация PowerPoint</vt:lpstr>
      <vt:lpstr>1.2. Стандарты с аббревиатурой IFRS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iee</cp:lastModifiedBy>
  <cp:revision>53</cp:revision>
  <dcterms:created xsi:type="dcterms:W3CDTF">2016-01-20T22:03:59Z</dcterms:created>
  <dcterms:modified xsi:type="dcterms:W3CDTF">2026-09-02T16:52:34Z</dcterms:modified>
</cp:coreProperties>
</file>